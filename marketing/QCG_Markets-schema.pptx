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E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148840"/>
            <a:ext cx="146304" cy="146304"/>
          </a:xfrm>
          <a:prstGeom prst="rect">
            <a:avLst/>
          </a:prstGeom>
          <a:solidFill>
            <a:srgbClr val="2FA574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1965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QCG </a:t>
            </a:r>
            <a:pPr indent="0" marL="0">
              <a:buNone/>
            </a:pPr>
            <a:r>
              <a:rPr lang="en-US" sz="4000" b="1" dirty="0">
                <a:solidFill>
                  <a:srgbClr val="2FA57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Markets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97280" y="2743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FE7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Schéma de l'application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097280" y="35661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SaaS de données et de pricing des marchés financiers marocains — architecture technique.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97280" y="5943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58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Bourse de Casablanca · BKAM · AMMC · dirham (MAD)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C1A1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Architecture — de la source à l'utilisateur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flux de données unique, un moteur de calcul central, une API protégée par abonnement, un frontend.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2148840"/>
            <a:ext cx="1965960" cy="1783080"/>
          </a:xfrm>
          <a:prstGeom prst="roundRect">
            <a:avLst>
              <a:gd name="adj" fmla="val 4615"/>
            </a:avLst>
          </a:prstGeom>
          <a:solidFill>
            <a:srgbClr val="F4F8F7"/>
          </a:solidFill>
          <a:ln w="12700">
            <a:solidFill>
              <a:srgbClr val="DBE6E4"/>
            </a:solidFill>
            <a:prstDash val="solid"/>
          </a:ln>
          <a:effectLst>
            <a:outerShdw sx="100000" sy="100000" kx="0" ky="0" algn="bl" rotWithShape="0" blurRad="101600" dist="38100" dir="5400000">
              <a:srgbClr val="12332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2258568"/>
            <a:ext cx="1746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C1A1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Sources publiques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606040"/>
            <a:ext cx="17647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Bourse de Casablanca</a:t>
            </a:r>
            <a:endParaRPr lang="en-US" sz="9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Bank Al-Maghrib (BKAM)</a:t>
            </a:r>
            <a:endParaRPr lang="en-US" sz="9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Maroclear (titres)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88920" y="2148840"/>
            <a:ext cx="196596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2FA574"/>
            </a:solidFill>
            <a:prstDash val="solid"/>
          </a:ln>
          <a:effectLst>
            <a:outerShdw sx="100000" sy="100000" kx="0" ky="0" algn="bl" rotWithShape="0" blurRad="101600" dist="38100" dir="5400000">
              <a:srgbClr val="12332B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898648" y="2258568"/>
            <a:ext cx="1746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8F6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kanyon — moteur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898648" y="2606040"/>
            <a:ext cx="17647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données &amp; ORM</a:t>
            </a:r>
            <a:endParaRPr lang="en-US" sz="9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pricer obligataire</a:t>
            </a:r>
            <a:endParaRPr lang="en-US" sz="9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portefeuille</a:t>
            </a:r>
            <a:endParaRPr lang="en-US" sz="9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analytics · reporting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120640" y="2148840"/>
            <a:ext cx="196596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BE6E4"/>
            </a:solidFill>
            <a:prstDash val="solid"/>
          </a:ln>
          <a:effectLst>
            <a:outerShdw sx="100000" sy="100000" kx="0" ky="0" algn="bl" rotWithShape="0" blurRad="101600" dist="38100" dir="5400000">
              <a:srgbClr val="12332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230368" y="2258568"/>
            <a:ext cx="1746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8F6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API FastAPI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230368" y="2606040"/>
            <a:ext cx="17647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auth JWT</a:t>
            </a:r>
            <a:endParaRPr lang="en-US" sz="9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abonnements</a:t>
            </a:r>
            <a:endParaRPr lang="en-US" sz="9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mur payant (402)</a:t>
            </a:r>
            <a:endParaRPr lang="en-US" sz="9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endpoints protégés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452360" y="2148840"/>
            <a:ext cx="196596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BE6E4"/>
            </a:solidFill>
            <a:prstDash val="solid"/>
          </a:ln>
          <a:effectLst>
            <a:outerShdw sx="100000" sy="100000" kx="0" ky="0" algn="bl" rotWithShape="0" blurRad="101600" dist="38100" dir="5400000">
              <a:srgbClr val="12332B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562088" y="2258568"/>
            <a:ext cx="1746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8F6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Frontend React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562088" y="2606040"/>
            <a:ext cx="17647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tarifs · connexion</a:t>
            </a:r>
            <a:endParaRPr lang="en-US" sz="9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tableau de bord</a:t>
            </a:r>
            <a:endParaRPr lang="en-US" sz="9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pricer · portefeuille</a:t>
            </a:r>
            <a:endParaRPr lang="en-US" sz="9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fiches (HTML/PDF)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784080" y="2148840"/>
            <a:ext cx="1965960" cy="1783080"/>
          </a:xfrm>
          <a:prstGeom prst="roundRect">
            <a:avLst>
              <a:gd name="adj" fmla="val 4615"/>
            </a:avLst>
          </a:prstGeom>
          <a:solidFill>
            <a:srgbClr val="F4F8F7"/>
          </a:solidFill>
          <a:ln w="12700">
            <a:solidFill>
              <a:srgbClr val="DBE6E4"/>
            </a:solidFill>
            <a:prstDash val="solid"/>
          </a:ln>
          <a:effectLst>
            <a:outerShdw sx="100000" sy="100000" kx="0" ky="0" algn="bl" rotWithShape="0" blurRad="101600" dist="38100" dir="5400000">
              <a:srgbClr val="12332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893808" y="2258568"/>
            <a:ext cx="1746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C1A1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Utilisateurs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893808" y="2606040"/>
            <a:ext cx="17647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sociétés de gestion</a:t>
            </a:r>
            <a:endParaRPr lang="en-US" sz="9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assurances</a:t>
            </a:r>
            <a:endParaRPr lang="en-US" sz="9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caisses de retraite</a:t>
            </a:r>
            <a:endParaRPr lang="en-US" sz="9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trésoreries · banques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423160" y="3040380"/>
            <a:ext cx="365760" cy="0"/>
          </a:xfrm>
          <a:prstGeom prst="line">
            <a:avLst/>
          </a:prstGeom>
          <a:noFill/>
          <a:ln w="28575">
            <a:solidFill>
              <a:srgbClr val="2FA574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2103120" y="278434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1F8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754880" y="3040380"/>
            <a:ext cx="365760" cy="0"/>
          </a:xfrm>
          <a:prstGeom prst="line">
            <a:avLst/>
          </a:prstGeom>
          <a:noFill/>
          <a:ln w="28575">
            <a:solidFill>
              <a:srgbClr val="2FA57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086600" y="3040380"/>
            <a:ext cx="365760" cy="0"/>
          </a:xfrm>
          <a:prstGeom prst="line">
            <a:avLst/>
          </a:prstGeom>
          <a:noFill/>
          <a:ln w="28575">
            <a:solidFill>
              <a:srgbClr val="2FA57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418320" y="3040380"/>
            <a:ext cx="365760" cy="0"/>
          </a:xfrm>
          <a:prstGeom prst="line">
            <a:avLst/>
          </a:prstGeom>
          <a:noFill/>
          <a:ln w="28575">
            <a:solidFill>
              <a:srgbClr val="2FA57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788920" y="4709160"/>
            <a:ext cx="1965960" cy="1051560"/>
          </a:xfrm>
          <a:prstGeom prst="roundRect">
            <a:avLst>
              <a:gd name="adj" fmla="val 7826"/>
            </a:avLst>
          </a:prstGeom>
          <a:solidFill>
            <a:srgbClr val="EAF3EF"/>
          </a:solidFill>
          <a:ln w="12700">
            <a:solidFill>
              <a:srgbClr val="2FA574"/>
            </a:solidFill>
            <a:prstDash val="solid"/>
          </a:ln>
          <a:effectLst>
            <a:outerShdw sx="100000" sy="100000" kx="0" ky="0" algn="bl" rotWithShape="0" blurRad="101600" dist="38100" dir="5400000">
              <a:srgbClr val="12332B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898648" y="4818888"/>
            <a:ext cx="1746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8F6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PostgreSQL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898648" y="5166360"/>
            <a:ext cx="1764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de marché historisées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120640" y="4709160"/>
            <a:ext cx="1965960" cy="1051560"/>
          </a:xfrm>
          <a:prstGeom prst="roundRect">
            <a:avLst>
              <a:gd name="adj" fmla="val 7826"/>
            </a:avLst>
          </a:prstGeom>
          <a:solidFill>
            <a:srgbClr val="F6EFDD"/>
          </a:solidFill>
          <a:ln w="12700">
            <a:solidFill>
              <a:srgbClr val="E0CF9B"/>
            </a:solidFill>
            <a:prstDash val="solid"/>
          </a:ln>
          <a:effectLst>
            <a:outerShdw sx="100000" sy="100000" kx="0" ky="0" algn="bl" rotWithShape="0" blurRad="101600" dist="38100" dir="5400000">
              <a:srgbClr val="12332B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230368" y="4818888"/>
            <a:ext cx="1746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589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Abonnements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230368" y="5166360"/>
            <a:ext cx="1764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Facturation en dirham (MAD)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771900" y="3931920"/>
            <a:ext cx="0" cy="777240"/>
          </a:xfrm>
          <a:prstGeom prst="line">
            <a:avLst/>
          </a:prstGeom>
          <a:noFill/>
          <a:ln w="25400">
            <a:solidFill>
              <a:srgbClr val="2FA574"/>
            </a:solidFill>
            <a:prstDash val="solid"/>
            <a:headEnd type="triangl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103620" y="3931920"/>
            <a:ext cx="0" cy="777240"/>
          </a:xfrm>
          <a:prstGeom prst="line">
            <a:avLst/>
          </a:prstGeom>
          <a:noFill/>
          <a:ln w="25400">
            <a:solidFill>
              <a:srgbClr val="B5892E"/>
            </a:solidFill>
            <a:prstDash val="solid"/>
            <a:headEnd type="triangle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&amp; abonnements + données de marché cohabitent dans PostgreSQL.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C1A1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Neuf modules, une chaîne intégrée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BE6E4"/>
            </a:solidFill>
            <a:prstDash val="solid"/>
          </a:ln>
          <a:effectLst>
            <a:outerShdw sx="100000" sy="100000" kx="0" ky="0" algn="bl" rotWithShape="0" blurRad="101600" dist="38100" dir="5400000">
              <a:srgbClr val="12332B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344168"/>
            <a:ext cx="566928" cy="566928"/>
          </a:xfrm>
          <a:prstGeom prst="ellipse">
            <a:avLst/>
          </a:prstGeom>
          <a:solidFill>
            <a:srgbClr val="EAF3E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44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8F6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25880" y="13624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de marché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25880" y="1673352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MASI, volumes, composition, monétaire, courbe BKAM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224942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F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livré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325112" y="114300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BE6E4"/>
            </a:solidFill>
            <a:prstDash val="solid"/>
          </a:ln>
          <a:effectLst>
            <a:outerShdw sx="100000" sy="100000" kx="0" ky="0" algn="bl" rotWithShape="0" blurRad="101600" dist="38100" dir="5400000">
              <a:srgbClr val="12332B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7992" y="1344168"/>
            <a:ext cx="566928" cy="566928"/>
          </a:xfrm>
          <a:prstGeom prst="ellipse">
            <a:avLst/>
          </a:prstGeom>
          <a:solidFill>
            <a:srgbClr val="EAF3EF"/>
          </a:solidFill>
          <a:ln/>
        </p:spPr>
      </p:sp>
      <p:sp>
        <p:nvSpPr>
          <p:cNvPr id="11" name="Text 9"/>
          <p:cNvSpPr/>
          <p:nvPr/>
        </p:nvSpPr>
        <p:spPr>
          <a:xfrm>
            <a:off x="4507992" y="1344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8F6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193792" y="13624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Pricer obligataire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93792" y="1673352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Courbe, coupons, sensibilité, prix pied &amp; plein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07992" y="224942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F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livré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93024" y="114300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BE6E4"/>
            </a:solidFill>
            <a:prstDash val="solid"/>
          </a:ln>
          <a:effectLst>
            <a:outerShdw sx="100000" sy="100000" kx="0" ky="0" algn="bl" rotWithShape="0" blurRad="101600" dist="38100" dir="5400000">
              <a:srgbClr val="12332B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75904" y="1344168"/>
            <a:ext cx="566928" cy="566928"/>
          </a:xfrm>
          <a:prstGeom prst="ellipse">
            <a:avLst/>
          </a:prstGeom>
          <a:solidFill>
            <a:srgbClr val="EAF3EF"/>
          </a:solidFill>
          <a:ln/>
        </p:spPr>
      </p:sp>
      <p:sp>
        <p:nvSpPr>
          <p:cNvPr id="17" name="Text 15"/>
          <p:cNvSpPr/>
          <p:nvPr/>
        </p:nvSpPr>
        <p:spPr>
          <a:xfrm>
            <a:off x="8375904" y="1344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8F6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061704" y="13624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061704" y="1673352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&amp; portefeuille cible entre deux courbes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375904" y="224942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F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livré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2798064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BE6E4"/>
            </a:solidFill>
            <a:prstDash val="solid"/>
          </a:ln>
          <a:effectLst>
            <a:outerShdw sx="100000" sy="100000" kx="0" ky="0" algn="bl" rotWithShape="0" blurRad="101600" dist="38100" dir="5400000">
              <a:srgbClr val="12332B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2999232"/>
            <a:ext cx="566928" cy="566928"/>
          </a:xfrm>
          <a:prstGeom prst="ellipse">
            <a:avLst/>
          </a:prstGeom>
          <a:solidFill>
            <a:srgbClr val="EAF3EF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999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8F6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25880" y="301752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Stratégies OPCVM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325880" y="332841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Actions, Diversifié, OMLT, OCT, Monétaire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0080" y="39044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F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livré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325112" y="2798064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BE6E4"/>
            </a:solidFill>
            <a:prstDash val="solid"/>
          </a:ln>
          <a:effectLst>
            <a:outerShdw sx="100000" sy="100000" kx="0" ky="0" algn="bl" rotWithShape="0" blurRad="101600" dist="38100" dir="5400000">
              <a:srgbClr val="12332B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07992" y="2999232"/>
            <a:ext cx="566928" cy="566928"/>
          </a:xfrm>
          <a:prstGeom prst="ellipse">
            <a:avLst/>
          </a:prstGeom>
          <a:solidFill>
            <a:srgbClr val="EAF3EF"/>
          </a:solidFill>
          <a:ln/>
        </p:spPr>
      </p:sp>
      <p:sp>
        <p:nvSpPr>
          <p:cNvPr id="29" name="Text 27"/>
          <p:cNvSpPr/>
          <p:nvPr/>
        </p:nvSpPr>
        <p:spPr>
          <a:xfrm>
            <a:off x="4507992" y="2999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8F6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93792" y="301752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Backtesting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93792" y="332841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Rejeu historique, VL simulée, drawdown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07992" y="39044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F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livré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193024" y="2798064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BE6E4"/>
            </a:solidFill>
            <a:prstDash val="solid"/>
          </a:ln>
          <a:effectLst>
            <a:outerShdw sx="100000" sy="100000" kx="0" ky="0" algn="bl" rotWithShape="0" blurRad="101600" dist="38100" dir="5400000">
              <a:srgbClr val="12332B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375904" y="2999232"/>
            <a:ext cx="566928" cy="566928"/>
          </a:xfrm>
          <a:prstGeom prst="ellipse">
            <a:avLst/>
          </a:prstGeom>
          <a:solidFill>
            <a:srgbClr val="EAF3EF"/>
          </a:solidFill>
          <a:ln/>
        </p:spPr>
      </p:sp>
      <p:sp>
        <p:nvSpPr>
          <p:cNvPr id="35" name="Text 33"/>
          <p:cNvSpPr/>
          <p:nvPr/>
        </p:nvSpPr>
        <p:spPr>
          <a:xfrm>
            <a:off x="8375904" y="2999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8F6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M6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061704" y="301752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testing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9061704" y="332841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Chocs taux &amp; actions, VaR stressée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375904" y="39044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F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livré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57200" y="4453128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BE6E4"/>
            </a:solidFill>
            <a:prstDash val="solid"/>
          </a:ln>
          <a:effectLst>
            <a:outerShdw sx="100000" sy="100000" kx="0" ky="0" algn="bl" rotWithShape="0" blurRad="101600" dist="38100" dir="5400000">
              <a:srgbClr val="12332B">
                <a:alpha val="1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0080" y="4654296"/>
            <a:ext cx="566928" cy="566928"/>
          </a:xfrm>
          <a:prstGeom prst="ellipse">
            <a:avLst/>
          </a:prstGeom>
          <a:solidFill>
            <a:srgbClr val="EAF3EF"/>
          </a:solidFill>
          <a:ln/>
        </p:spPr>
      </p:sp>
      <p:sp>
        <p:nvSpPr>
          <p:cNvPr id="41" name="Text 39"/>
          <p:cNvSpPr/>
          <p:nvPr/>
        </p:nvSpPr>
        <p:spPr>
          <a:xfrm>
            <a:off x="640080" y="46542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8F6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M7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325880" y="467258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Ratios de risque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325880" y="49834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Sharpe, Treynor, VaR, CVaR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40080" y="55595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F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livré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325112" y="4453128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BE6E4"/>
            </a:solidFill>
            <a:prstDash val="solid"/>
          </a:ln>
          <a:effectLst>
            <a:outerShdw sx="100000" sy="100000" kx="0" ky="0" algn="bl" rotWithShape="0" blurRad="101600" dist="38100" dir="5400000">
              <a:srgbClr val="12332B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507992" y="4654296"/>
            <a:ext cx="566928" cy="566928"/>
          </a:xfrm>
          <a:prstGeom prst="ellipse">
            <a:avLst/>
          </a:prstGeom>
          <a:solidFill>
            <a:srgbClr val="EAF3EF"/>
          </a:solidFill>
          <a:ln/>
        </p:spPr>
      </p:sp>
      <p:sp>
        <p:nvSpPr>
          <p:cNvPr id="47" name="Text 45"/>
          <p:cNvSpPr/>
          <p:nvPr/>
        </p:nvSpPr>
        <p:spPr>
          <a:xfrm>
            <a:off x="4507992" y="46542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8F6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M8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5193792" y="467258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AMMC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5193792" y="49834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Division, emprise, sensibilité, liquidité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507992" y="55595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F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livré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8193024" y="4453128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BE6E4"/>
            </a:solidFill>
            <a:prstDash val="solid"/>
          </a:ln>
          <a:effectLst>
            <a:outerShdw sx="100000" sy="100000" kx="0" ky="0" algn="bl" rotWithShape="0" blurRad="101600" dist="38100" dir="5400000">
              <a:srgbClr val="12332B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75904" y="4654296"/>
            <a:ext cx="566928" cy="566928"/>
          </a:xfrm>
          <a:prstGeom prst="ellipse">
            <a:avLst/>
          </a:prstGeom>
          <a:solidFill>
            <a:srgbClr val="EAF3EF"/>
          </a:solidFill>
          <a:ln/>
        </p:spPr>
      </p:sp>
      <p:sp>
        <p:nvSpPr>
          <p:cNvPr id="53" name="Text 51"/>
          <p:cNvSpPr/>
          <p:nvPr/>
        </p:nvSpPr>
        <p:spPr>
          <a:xfrm>
            <a:off x="8375904" y="46542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8F6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M9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9061704" y="467258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9061704" y="49834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Fiches de fonds HTML &amp; PDF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8375904" y="55595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F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livré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E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Le flux de valeur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donnée brute à la fiche de fonds conforme — en une chaîne.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2834640"/>
            <a:ext cx="1481328" cy="1371600"/>
          </a:xfrm>
          <a:prstGeom prst="roundRect">
            <a:avLst>
              <a:gd name="adj" fmla="val 6000"/>
            </a:avLst>
          </a:prstGeom>
          <a:solidFill>
            <a:srgbClr val="16302F"/>
          </a:solidFill>
          <a:ln w="12700">
            <a:solidFill>
              <a:srgbClr val="2747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090672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Données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30352" y="3547872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FC1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MASI · BKAM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938528" y="3520440"/>
            <a:ext cx="128016" cy="0"/>
          </a:xfrm>
          <a:prstGeom prst="line">
            <a:avLst/>
          </a:prstGeom>
          <a:noFill/>
          <a:ln w="25400">
            <a:solidFill>
              <a:srgbClr val="B5892E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066544" y="2834640"/>
            <a:ext cx="1481328" cy="1371600"/>
          </a:xfrm>
          <a:prstGeom prst="roundRect">
            <a:avLst>
              <a:gd name="adj" fmla="val 6000"/>
            </a:avLst>
          </a:prstGeom>
          <a:solidFill>
            <a:srgbClr val="16302F"/>
          </a:solidFill>
          <a:ln w="12700">
            <a:solidFill>
              <a:srgbClr val="2747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39696" y="3090672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Pricing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139696" y="3547872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FC1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courbe · sensibilité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547872" y="3520440"/>
            <a:ext cx="128016" cy="0"/>
          </a:xfrm>
          <a:prstGeom prst="line">
            <a:avLst/>
          </a:prstGeom>
          <a:noFill/>
          <a:ln w="25400">
            <a:solidFill>
              <a:srgbClr val="B5892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675888" y="2834640"/>
            <a:ext cx="1481328" cy="1371600"/>
          </a:xfrm>
          <a:prstGeom prst="roundRect">
            <a:avLst>
              <a:gd name="adj" fmla="val 6000"/>
            </a:avLst>
          </a:prstGeom>
          <a:solidFill>
            <a:srgbClr val="16302F"/>
          </a:solidFill>
          <a:ln w="12700">
            <a:solidFill>
              <a:srgbClr val="2747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49040" y="3090672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Construction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749040" y="3547872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FC1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cible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157216" y="3520440"/>
            <a:ext cx="128016" cy="0"/>
          </a:xfrm>
          <a:prstGeom prst="line">
            <a:avLst/>
          </a:prstGeom>
          <a:noFill/>
          <a:ln w="25400">
            <a:solidFill>
              <a:srgbClr val="B5892E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285232" y="2834640"/>
            <a:ext cx="1481328" cy="1371600"/>
          </a:xfrm>
          <a:prstGeom prst="roundRect">
            <a:avLst>
              <a:gd name="adj" fmla="val 6000"/>
            </a:avLst>
          </a:prstGeom>
          <a:solidFill>
            <a:srgbClr val="16302F"/>
          </a:solidFill>
          <a:ln w="12700">
            <a:solidFill>
              <a:srgbClr val="2747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58384" y="3090672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Backtest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358384" y="3547872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FC1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 simulée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766560" y="3520440"/>
            <a:ext cx="128016" cy="0"/>
          </a:xfrm>
          <a:prstGeom prst="line">
            <a:avLst/>
          </a:prstGeom>
          <a:noFill/>
          <a:ln w="25400">
            <a:solidFill>
              <a:srgbClr val="B5892E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894576" y="2834640"/>
            <a:ext cx="1481328" cy="1371600"/>
          </a:xfrm>
          <a:prstGeom prst="roundRect">
            <a:avLst>
              <a:gd name="adj" fmla="val 6000"/>
            </a:avLst>
          </a:prstGeom>
          <a:solidFill>
            <a:srgbClr val="16302F"/>
          </a:solidFill>
          <a:ln w="12700">
            <a:solidFill>
              <a:srgbClr val="2747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67728" y="3090672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Stress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967728" y="3547872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FC1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chocs taux/actions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375904" y="3520440"/>
            <a:ext cx="128016" cy="0"/>
          </a:xfrm>
          <a:prstGeom prst="line">
            <a:avLst/>
          </a:prstGeom>
          <a:noFill/>
          <a:ln w="25400">
            <a:solidFill>
              <a:srgbClr val="B5892E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503920" y="2834640"/>
            <a:ext cx="1481328" cy="1371600"/>
          </a:xfrm>
          <a:prstGeom prst="roundRect">
            <a:avLst>
              <a:gd name="adj" fmla="val 6000"/>
            </a:avLst>
          </a:prstGeom>
          <a:solidFill>
            <a:srgbClr val="1F8F66"/>
          </a:solidFill>
          <a:ln w="12700">
            <a:solidFill>
              <a:srgbClr val="1F8F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77072" y="3090672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5130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Conformité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577072" y="3547872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0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ratios AMMC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985248" y="3520440"/>
            <a:ext cx="128016" cy="0"/>
          </a:xfrm>
          <a:prstGeom prst="line">
            <a:avLst/>
          </a:prstGeom>
          <a:noFill/>
          <a:ln w="25400">
            <a:solidFill>
              <a:srgbClr val="B5892E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113264" y="2834640"/>
            <a:ext cx="1481328" cy="1371600"/>
          </a:xfrm>
          <a:prstGeom prst="roundRect">
            <a:avLst>
              <a:gd name="adj" fmla="val 6000"/>
            </a:avLst>
          </a:prstGeom>
          <a:solidFill>
            <a:srgbClr val="16302F"/>
          </a:solidFill>
          <a:ln w="12700">
            <a:solidFill>
              <a:srgbClr val="2747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186416" y="3090672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Fiche PDF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10186416" y="3547872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FC1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57200" y="4754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58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étape est un module facturable — la conformité AMMC est le différenciant.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QCG Markets</dc:creator>
  <cp:lastModifiedBy>QCG Markets</cp:lastModifiedBy>
  <cp:revision>1</cp:revision>
  <dcterms:created xsi:type="dcterms:W3CDTF">2026-07-29T14:26:40Z</dcterms:created>
  <dcterms:modified xsi:type="dcterms:W3CDTF">2026-07-29T14:26:40Z</dcterms:modified>
</cp:coreProperties>
</file>