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2FA574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965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Kanyon</a:t>
            </a:r>
            <a:pPr indent="0" marL="0">
              <a:buNone/>
            </a:pPr>
            <a:r>
              <a:rPr lang="en-US" sz="4000" b="1" dirty="0">
                <a:solidFill>
                  <a:srgbClr val="2FA5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Markets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2743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7D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Schéma de l'application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3566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SaaS de données et de pricing des marchés financiers marocains — architecture technique.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5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Bourse de Casablanca · BKAM · AMMC · paiement CMI (MAD)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Architecture — de la source à l'utilisateur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flux de données unique, un moteur de calcul central, une API protégée par abonnement, un frontend.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1965960" cy="1783080"/>
          </a:xfrm>
          <a:prstGeom prst="roundRect">
            <a:avLst>
              <a:gd name="adj" fmla="val 4615"/>
            </a:avLst>
          </a:prstGeom>
          <a:solidFill>
            <a:srgbClr val="F4F8F7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25856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Sources publiques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2606040"/>
            <a:ext cx="1764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Bourse de Casablanca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Bank Al-Maghrib (BKAM)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Maroclear (titres)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88920" y="2148840"/>
            <a:ext cx="1965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2FA57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98648" y="225856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kanyon — moteur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98648" y="2606040"/>
            <a:ext cx="1764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données &amp; ORM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pricer obligataire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portefeuille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analytics · reporting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20640" y="2148840"/>
            <a:ext cx="1965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30368" y="225856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FastAPI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0368" y="2606040"/>
            <a:ext cx="1764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auth JWT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abonnements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mur payant (402)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endpoints protégés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52360" y="2148840"/>
            <a:ext cx="1965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62088" y="225856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 React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62088" y="2606040"/>
            <a:ext cx="1764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tarifs · connexion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tableau de bord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pricer · portefeuille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fiches (HTML/PDF)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784080" y="2148840"/>
            <a:ext cx="1965960" cy="1783080"/>
          </a:xfrm>
          <a:prstGeom prst="roundRect">
            <a:avLst>
              <a:gd name="adj" fmla="val 4615"/>
            </a:avLst>
          </a:prstGeom>
          <a:solidFill>
            <a:srgbClr val="F4F8F7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893808" y="225856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1A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Utilisateurs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93808" y="2606040"/>
            <a:ext cx="17647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sociétés de gestion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assurances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caisses de retraite</a:t>
            </a:r>
            <a:endParaRPr lang="en-US" sz="9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trésoreries · banques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23160" y="3040380"/>
            <a:ext cx="365760" cy="0"/>
          </a:xfrm>
          <a:prstGeom prst="line">
            <a:avLst/>
          </a:prstGeom>
          <a:noFill/>
          <a:ln w="28575">
            <a:solidFill>
              <a:srgbClr val="2FA574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103120" y="27843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F8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3040380"/>
            <a:ext cx="365760" cy="0"/>
          </a:xfrm>
          <a:prstGeom prst="line">
            <a:avLst/>
          </a:prstGeom>
          <a:noFill/>
          <a:ln w="28575">
            <a:solidFill>
              <a:srgbClr val="2FA57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86600" y="3040380"/>
            <a:ext cx="365760" cy="0"/>
          </a:xfrm>
          <a:prstGeom prst="line">
            <a:avLst/>
          </a:prstGeom>
          <a:noFill/>
          <a:ln w="28575">
            <a:solidFill>
              <a:srgbClr val="2FA57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18320" y="3040380"/>
            <a:ext cx="365760" cy="0"/>
          </a:xfrm>
          <a:prstGeom prst="line">
            <a:avLst/>
          </a:prstGeom>
          <a:noFill/>
          <a:ln w="28575">
            <a:solidFill>
              <a:srgbClr val="2FA57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788920" y="470916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EAF3EF"/>
          </a:solidFill>
          <a:ln w="12700">
            <a:solidFill>
              <a:srgbClr val="2FA57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98648" y="481888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98648" y="516636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marché historisées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20640" y="470916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F6EFDD"/>
          </a:solidFill>
          <a:ln w="12700">
            <a:solidFill>
              <a:srgbClr val="E0CF9B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30368" y="4818888"/>
            <a:ext cx="1746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589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CMI / PayZone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0368" y="516636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récurrent en MAD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71900" y="3931920"/>
            <a:ext cx="0" cy="777240"/>
          </a:xfrm>
          <a:prstGeom prst="line">
            <a:avLst/>
          </a:prstGeom>
          <a:noFill/>
          <a:ln w="25400">
            <a:solidFill>
              <a:srgbClr val="2FA574"/>
            </a:solidFill>
            <a:prstDash val="solid"/>
            <a:headEnd type="triangl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03620" y="3931920"/>
            <a:ext cx="0" cy="77724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headEnd type="triangl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&amp; abonnements + données de marché cohabitent dans PostgreSQL.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C1A1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Neuf modules, une chaîne intégrée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44168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44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3624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marché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6733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MASI, volumes, composition, monétaire, courbe BKAM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249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5112" y="1143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07992" y="1344168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344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93792" y="13624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Pricer obligataire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93792" y="16733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Courbe, coupons, sensibilité, prix pied &amp; plein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07992" y="2249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93024" y="11430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1344168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1344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61704" y="1362456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61704" y="167335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&amp; portefeuille cible entre deux courbes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375904" y="2249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79806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2999232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99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30175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OPCVM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25880" y="33284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Diversifié, OMLT, OCT, Monétaire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3904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25112" y="279806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07992" y="2999232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29" name="Text 27"/>
          <p:cNvSpPr/>
          <p:nvPr/>
        </p:nvSpPr>
        <p:spPr>
          <a:xfrm>
            <a:off x="4507992" y="2999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93792" y="30175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93792" y="33284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Rejeu historique, VL simulée, drawdown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07992" y="3904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93024" y="2798064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75904" y="2999232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35" name="Text 33"/>
          <p:cNvSpPr/>
          <p:nvPr/>
        </p:nvSpPr>
        <p:spPr>
          <a:xfrm>
            <a:off x="8375904" y="2999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61704" y="30175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061704" y="3328416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Chocs taux &amp; actions, VaR stressée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75904" y="3904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45312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4654296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325880" y="4672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de risque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325880" y="4983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Treynor, VaR, CVaR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5559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25112" y="445312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07992" y="4654296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47" name="Text 45"/>
          <p:cNvSpPr/>
          <p:nvPr/>
        </p:nvSpPr>
        <p:spPr>
          <a:xfrm>
            <a:off x="4507992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M8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193792" y="4672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AMMC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193792" y="4983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Division, emprise, sensibilité, liquidité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07992" y="5559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193024" y="4453128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BE6E4"/>
            </a:solidFill>
            <a:prstDash val="solid"/>
          </a:ln>
          <a:effectLst>
            <a:outerShdw sx="100000" sy="100000" kx="0" ky="0" algn="bl" rotWithShape="0" blurRad="101600" dist="38100" dir="5400000">
              <a:srgbClr val="12332B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4654296"/>
            <a:ext cx="566928" cy="566928"/>
          </a:xfrm>
          <a:prstGeom prst="ellipse">
            <a:avLst/>
          </a:prstGeom>
          <a:solidFill>
            <a:srgbClr val="EAF3E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F6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M9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061704" y="467258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061704" y="4983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de fonds HTML &amp; PDF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375904" y="55595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livré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 flux de valeur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brute à la fiche de fonds conforme — en une chaîne.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Données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0352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MASI · BKAM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38528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66544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9696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Pricing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39696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· sensibilité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47872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75888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Construction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49040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cible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57216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85232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8384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Backtest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58384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 simulée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94576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67728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Stress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67728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chocs taux/actions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75904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F8F66"/>
          </a:solidFill>
          <a:ln w="12700">
            <a:solidFill>
              <a:srgbClr val="1F8F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77072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5130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Conformité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77072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B2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AMMC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985248" y="3520440"/>
            <a:ext cx="128016" cy="0"/>
          </a:xfrm>
          <a:prstGeom prst="line">
            <a:avLst/>
          </a:prstGeom>
          <a:noFill/>
          <a:ln w="25400">
            <a:solidFill>
              <a:srgbClr val="B5892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13264" y="2834640"/>
            <a:ext cx="1481328" cy="1371600"/>
          </a:xfrm>
          <a:prstGeom prst="roundRect">
            <a:avLst>
              <a:gd name="adj" fmla="val 6000"/>
            </a:avLst>
          </a:prstGeom>
          <a:solidFill>
            <a:srgbClr val="16302F"/>
          </a:solidFill>
          <a:ln w="12700">
            <a:solidFill>
              <a:srgbClr val="2747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86416" y="30906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Fiche PDF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186416" y="354787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C1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58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est un module facturable — la conformité AMMC est le différenciant.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Kanyon Markets</dc:creator>
  <cp:lastModifiedBy>Kanyon Markets</cp:lastModifiedBy>
  <cp:revision>1</cp:revision>
  <dcterms:created xsi:type="dcterms:W3CDTF">2026-07-29T14:01:25Z</dcterms:created>
  <dcterms:modified xsi:type="dcterms:W3CDTF">2026-07-29T14:01:25Z</dcterms:modified>
</cp:coreProperties>
</file>